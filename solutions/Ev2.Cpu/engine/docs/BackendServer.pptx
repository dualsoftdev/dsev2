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7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5CDFF-36F9-47F5-BBA4-F18A53BA5B3E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F3C56-390D-4D4F-9A22-C88DDD539A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36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7F3C56-390D-4D4F-9A22-C88DDD539A3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1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B8D6-C5FA-2ACE-042A-2E3F0E140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DD992-C141-E73F-40EC-293EA1A78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DB992-E926-8052-498C-360B51C3D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41249-9E21-1085-7402-EFD104996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201C3-D733-CBF1-88F5-7514FD339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11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BF76D-2893-CCF2-8126-DFAD789F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995C-2902-1948-8B0F-F34579BE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DD48F-2762-1136-2D99-2F906EA5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A4F00-9C09-E5F6-3637-F5DD873F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49CB3-51AF-4F20-7511-6E68896D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3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2616C-6256-7FB8-B0A3-5326987A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63E8D-E9A3-6927-3351-64C8D3D9F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D64FE-79DE-4D8C-B452-6C771F7D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51663-1075-0550-2D03-676A680F0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E1F4E-8127-F695-9038-40008FD4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63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E685-EFE0-9B4C-CB0B-D75330C1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15D96-69B7-BD4F-F5CE-5A4A4C8CD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2B8AB-D5A8-B160-2F6F-87F838ED2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9E466-3675-99FA-0FE6-97CEF548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BEA600-DB2A-6FD1-6BA8-7A2822222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FE977-A685-1BBC-34FA-0252D1A9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102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832B2-3E64-E1E2-CA44-F8346C9F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46912-2FEC-E101-01FA-144C3B7AA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5191FD-F09F-5BC7-70C1-A3B7CA79E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252BFD-3C50-E596-3A7D-CC6AA8D4C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85D29E-C693-5C24-33E1-3ACE96526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EEB7A-0EDD-081B-7C7A-D56172D52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2C36F-F59A-A5B6-A7A4-F0670336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11977-342D-F028-21FB-DC51A0B4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441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FF47F-DE39-A372-1235-6210DE07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934F20-13D6-508B-25DB-2D7C5AF00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2C37F2-0539-371F-3BC8-24FF8C59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B45E5-393F-61B7-1A83-C5874805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19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EE18-5F9A-3DF4-F4E9-C0CD2F1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07A3A8-396A-099A-20AD-1E2A7725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3993C-A72F-935E-CE4E-BD7AD30B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06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4A468-B10D-7876-AFAB-10DF51FD3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F643D-AD57-4CB6-0333-E2E4D3DAB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D06D8-9189-0C8C-5AB8-87132C8CEA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E8118-33D4-E61E-E7E4-74DAAEB4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0FDF-81C6-BFA1-4FD3-2AC6BA1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689D8-D576-E799-6CE4-4CE7068DB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776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2B97-E7AA-5B65-96F9-D86F42157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6B2D43-DDC9-DE42-0DEC-5E1F86596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4800F-DC4D-834E-3709-5FB6891E3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00D01E-44B0-2EF9-B9C3-1F824DC17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4DA6A-A82E-DE1B-AE3B-55858F6E7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A7EA8-BE2D-95D8-02D1-64A88900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808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0A1B-7B6A-0797-8514-935867537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95835-7C4F-AF8C-3291-1BC0390311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1ED6F-F9BB-0983-078D-F12B01D33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F573-5063-7734-560F-31AE6EEF3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50DDDA-4CE9-AA94-A86C-B7835E49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33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CD1CE5-EFD1-0C94-C3A9-546D514AB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1193CC-08BE-EE89-1661-15AF23EE1A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3319A-41C6-1339-917C-8705D6FF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0F203-D4DF-D452-B6B4-ABD2BB35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BD99A-8FD3-5ED1-4F7A-9B11C3CB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37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CF6187-7AB6-23F2-E971-547C9F6FB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FA365C-9271-8898-B49E-B164E6396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D3BBF-7093-026C-0C4A-0E6001D1E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C3DDF-EDD7-4E06-8254-27ED298C990B}" type="datetimeFigureOut">
              <a:rPr lang="ko-KR" altLang="en-US" smtClean="0"/>
              <a:t>2025-07-17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AD351-62D2-36CD-6EE4-B20E279187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6E53B-BE69-1F33-5BF7-12D25B31C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B2DAF4-FCC3-464C-98C0-406F01489C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449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252E-4447-D1D9-8984-9A2F84F553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Backend</a:t>
            </a:r>
            <a:r>
              <a:rPr lang="ko-KR" altLang="en-US" dirty="0"/>
              <a:t> </a:t>
            </a:r>
            <a:r>
              <a:rPr lang="en-US" altLang="ko-KR" dirty="0"/>
              <a:t>server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A09F68-250C-5076-F669-DB0CCD53C6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Draft version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211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C9E57-77AB-1BE6-DD9A-31DCB884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구성 요소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941BCB-C00C-8F54-33E0-78C4B4ABA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DS Runtime</a:t>
            </a:r>
          </a:p>
          <a:p>
            <a:r>
              <a:rPr lang="en-US" altLang="ko-KR" dirty="0"/>
              <a:t>Third party</a:t>
            </a:r>
          </a:p>
          <a:p>
            <a:pPr lvl="1"/>
            <a:r>
              <a:rPr lang="en-US" altLang="ko-KR" dirty="0"/>
              <a:t>AAS package explorer, AasCore.Aas3_0 </a:t>
            </a:r>
            <a:r>
              <a:rPr lang="en-US" altLang="ko-KR" dirty="0" err="1"/>
              <a:t>Nuget</a:t>
            </a:r>
            <a:r>
              <a:rPr lang="ko-KR" altLang="en-US" dirty="0"/>
              <a:t> </a:t>
            </a:r>
            <a:r>
              <a:rPr lang="en-US" altLang="ko-KR" dirty="0"/>
              <a:t>package</a:t>
            </a:r>
          </a:p>
          <a:p>
            <a:pPr lvl="1"/>
            <a:r>
              <a:rPr lang="en-US" altLang="ko-KR" dirty="0"/>
              <a:t>OPC Server</a:t>
            </a:r>
          </a:p>
          <a:p>
            <a:pPr lvl="1"/>
            <a:r>
              <a:rPr lang="en-US" altLang="ko-KR" dirty="0"/>
              <a:t>Redis / </a:t>
            </a:r>
            <a:r>
              <a:rPr lang="en-US" altLang="ko-KR" dirty="0" err="1"/>
              <a:t>Memurai</a:t>
            </a:r>
            <a:r>
              <a:rPr lang="en-US" altLang="ko-KR" dirty="0"/>
              <a:t> (https://www.memurai.com)</a:t>
            </a:r>
          </a:p>
          <a:p>
            <a:pPr lvl="1"/>
            <a:r>
              <a:rPr lang="en-US" altLang="ko-KR" dirty="0"/>
              <a:t>Database (PostgreSQL Server 17 / SQLite)</a:t>
            </a:r>
          </a:p>
          <a:p>
            <a:pPr lvl="1"/>
            <a:r>
              <a:rPr lang="ko-KR" altLang="en-US" dirty="0"/>
              <a:t>기타 </a:t>
            </a:r>
            <a:r>
              <a:rPr lang="en-US" altLang="ko-KR" dirty="0"/>
              <a:t>open source </a:t>
            </a:r>
            <a:r>
              <a:rPr lang="en-US" altLang="ko-KR" dirty="0" err="1"/>
              <a:t>nuget</a:t>
            </a:r>
            <a:r>
              <a:rPr lang="en-US" altLang="ko-KR" dirty="0"/>
              <a:t> packages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88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BFE1-6936-41B7-2126-A6FFF3745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Backend service </a:t>
            </a:r>
            <a:r>
              <a:rPr lang="ko-KR" altLang="en-US" dirty="0"/>
              <a:t>개요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38812-6AF9-6195-1B3A-96A59CE57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381" y="2584194"/>
            <a:ext cx="2411881" cy="1541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786BB7-FAB2-201F-6B0D-FAF521828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3153" y="2080604"/>
            <a:ext cx="1570628" cy="928227"/>
          </a:xfrm>
          <a:prstGeom prst="rect">
            <a:avLst/>
          </a:prstGeom>
        </p:spPr>
      </p:pic>
      <p:pic>
        <p:nvPicPr>
          <p:cNvPr id="9" name="Picture 8" descr="A blue elephant logo with black text&#10;&#10;AI-generated content may be incorrect.">
            <a:extLst>
              <a:ext uri="{FF2B5EF4-FFF2-40B4-BE49-F238E27FC236}">
                <a16:creationId xmlns:a16="http://schemas.microsoft.com/office/drawing/2014/main" id="{93B12908-E17E-C46B-FF51-96A3BF906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740" y="840115"/>
            <a:ext cx="1821895" cy="11819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FD3BBB6-FDC5-C1A9-F5AF-869E7457ABE3}"/>
              </a:ext>
            </a:extLst>
          </p:cNvPr>
          <p:cNvCxnSpPr>
            <a:cxnSpLocks/>
          </p:cNvCxnSpPr>
          <p:nvPr/>
        </p:nvCxnSpPr>
        <p:spPr>
          <a:xfrm flipV="1">
            <a:off x="7226262" y="1450388"/>
            <a:ext cx="929695" cy="10631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15D84C-F5C3-3D12-9A27-6C9316155257}"/>
              </a:ext>
            </a:extLst>
          </p:cNvPr>
          <p:cNvCxnSpPr>
            <a:cxnSpLocks/>
          </p:cNvCxnSpPr>
          <p:nvPr/>
        </p:nvCxnSpPr>
        <p:spPr>
          <a:xfrm>
            <a:off x="6813182" y="4196828"/>
            <a:ext cx="753631" cy="603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 logo of a company&#10;&#10;AI-generated content may be incorrect.">
            <a:extLst>
              <a:ext uri="{FF2B5EF4-FFF2-40B4-BE49-F238E27FC236}">
                <a16:creationId xmlns:a16="http://schemas.microsoft.com/office/drawing/2014/main" id="{CFA532F6-3225-C85D-A8C3-578D53FCB5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8178" y="2595465"/>
            <a:ext cx="2429706" cy="826731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659E226-197E-0FF5-3AB1-E371D4CF1696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4145807" y="3355187"/>
            <a:ext cx="668574" cy="1689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42" descr="A black silhouette of a person&#10;&#10;AI-generated content may be incorrect.">
            <a:extLst>
              <a:ext uri="{FF2B5EF4-FFF2-40B4-BE49-F238E27FC236}">
                <a16:creationId xmlns:a16="http://schemas.microsoft.com/office/drawing/2014/main" id="{FA67EFAC-8BFD-85CD-B201-A211D0B156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27" y="3218600"/>
            <a:ext cx="782860" cy="782860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6999F9-0E27-1867-2BA0-6B9FD5723FA7}"/>
              </a:ext>
            </a:extLst>
          </p:cNvPr>
          <p:cNvCxnSpPr>
            <a:cxnSpLocks/>
            <a:stCxn id="43" idx="3"/>
          </p:cNvCxnSpPr>
          <p:nvPr/>
        </p:nvCxnSpPr>
        <p:spPr>
          <a:xfrm flipV="1">
            <a:off x="1097987" y="3274138"/>
            <a:ext cx="310062" cy="33589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56E8065B-5613-63EB-B446-20519BD04D85}"/>
              </a:ext>
            </a:extLst>
          </p:cNvPr>
          <p:cNvSpPr txBox="1"/>
          <p:nvPr/>
        </p:nvSpPr>
        <p:spPr>
          <a:xfrm>
            <a:off x="5169662" y="2122529"/>
            <a:ext cx="1707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Runtime</a:t>
            </a:r>
            <a:endParaRPr lang="ko-KR" altLang="en-US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81CA4D-414C-050A-1D72-5E1E1BBD8446}"/>
              </a:ext>
            </a:extLst>
          </p:cNvPr>
          <p:cNvSpPr txBox="1"/>
          <p:nvPr/>
        </p:nvSpPr>
        <p:spPr>
          <a:xfrm>
            <a:off x="1408049" y="1664950"/>
            <a:ext cx="18941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DS Editor</a:t>
            </a:r>
            <a:endParaRPr lang="ko-KR" altLang="en-US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17D90C4-1718-A6B8-69EE-8A3730E7E18F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7226262" y="3202417"/>
            <a:ext cx="727109" cy="15277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7F7AF7-05D9-6D2C-BD92-AF3EA1FF1D70}"/>
              </a:ext>
            </a:extLst>
          </p:cNvPr>
          <p:cNvGrpSpPr/>
          <p:nvPr/>
        </p:nvGrpSpPr>
        <p:grpSpPr>
          <a:xfrm>
            <a:off x="3083722" y="3021647"/>
            <a:ext cx="1697485" cy="714908"/>
            <a:chOff x="3370641" y="3129371"/>
            <a:chExt cx="1697485" cy="714908"/>
          </a:xfrm>
        </p:grpSpPr>
        <p:pic>
          <p:nvPicPr>
            <p:cNvPr id="6" name="Picture 5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0B97521-B719-455D-33BC-5E313BBB7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70641" y="3419445"/>
              <a:ext cx="1062085" cy="424834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61ABC7-FA9A-C403-5C6A-275D53F887B2}"/>
                </a:ext>
              </a:extLst>
            </p:cNvPr>
            <p:cNvSpPr txBox="1"/>
            <p:nvPr/>
          </p:nvSpPr>
          <p:spPr>
            <a:xfrm>
              <a:off x="3370641" y="3129371"/>
              <a:ext cx="169748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단일 파일저장</a:t>
              </a:r>
              <a:r>
                <a:rPr lang="en-US" altLang="ko-KR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(*.</a:t>
              </a:r>
              <a:r>
                <a:rPr lang="en-US" altLang="ko-KR" sz="1200" b="1" dirty="0" err="1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json</a:t>
              </a:r>
              <a:r>
                <a:rPr lang="en-US" altLang="ko-KR" sz="1200" b="1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)</a:t>
              </a:r>
              <a:endPara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endParaRP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82ACA6-7165-4536-726F-A4E8DD373283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218467" y="3008831"/>
            <a:ext cx="823555" cy="40770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A blue and white logo&#10;&#10;AI-generated content may be incorrect.">
            <a:extLst>
              <a:ext uri="{FF2B5EF4-FFF2-40B4-BE49-F238E27FC236}">
                <a16:creationId xmlns:a16="http://schemas.microsoft.com/office/drawing/2014/main" id="{5E911F97-C753-5A58-033C-17D6455F5A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157" y="5157612"/>
            <a:ext cx="800340" cy="8003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2920AA-03A5-5B87-0D97-A6B83C8EC15F}"/>
              </a:ext>
            </a:extLst>
          </p:cNvPr>
          <p:cNvSpPr txBox="1"/>
          <p:nvPr/>
        </p:nvSpPr>
        <p:spPr>
          <a:xfrm>
            <a:off x="3083721" y="5032078"/>
            <a:ext cx="16974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단일 파일저장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(*.</a:t>
            </a:r>
            <a:r>
              <a:rPr lang="en-US" altLang="ko-KR" sz="12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aasx</a:t>
            </a:r>
            <a:r>
              <a:rPr lang="en-US" altLang="ko-KR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12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A970FF-9538-8D90-371B-3FCD4C13848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262" y="4338300"/>
            <a:ext cx="1589065" cy="10179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B22195A-92D2-C354-5DC8-AD5784DB78D5}"/>
              </a:ext>
            </a:extLst>
          </p:cNvPr>
          <p:cNvSpPr txBox="1"/>
          <p:nvPr/>
        </p:nvSpPr>
        <p:spPr>
          <a:xfrm>
            <a:off x="1315876" y="4026974"/>
            <a:ext cx="2616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AASX package explorer</a:t>
            </a:r>
            <a:endParaRPr lang="ko-KR" altLang="en-US" sz="16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E7C5AFE-561F-9034-DB9C-53A0CE9920C5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3932464" y="4196251"/>
            <a:ext cx="848742" cy="8358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>
            <a:extLst>
              <a:ext uri="{FF2B5EF4-FFF2-40B4-BE49-F238E27FC236}">
                <a16:creationId xmlns:a16="http://schemas.microsoft.com/office/drawing/2014/main" id="{97E4BB75-442D-370A-0FF9-64D2F11DE4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2227" y="4978837"/>
            <a:ext cx="1842288" cy="560093"/>
          </a:xfrm>
          <a:prstGeom prst="rect">
            <a:avLst/>
          </a:prstGeom>
        </p:spPr>
      </p:pic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951330-2590-B036-5410-8DE9B852E47C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1097987" y="3610030"/>
            <a:ext cx="335166" cy="41694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528DF8FF-6684-514D-112F-AC8F66F9232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213795" y="5356206"/>
            <a:ext cx="1050665" cy="24454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12151803-EAB4-9A0D-04B9-FFFB53A6E5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1343" y="3797280"/>
            <a:ext cx="1659743" cy="1133332"/>
          </a:xfrm>
          <a:prstGeom prst="rect">
            <a:avLst/>
          </a:prstGeom>
        </p:spPr>
      </p:pic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40A920B0-05F8-D125-D4C2-8DD86D6EB3DE}"/>
              </a:ext>
            </a:extLst>
          </p:cNvPr>
          <p:cNvCxnSpPr>
            <a:cxnSpLocks/>
            <a:endCxn id="89" idx="1"/>
          </p:cNvCxnSpPr>
          <p:nvPr/>
        </p:nvCxnSpPr>
        <p:spPr>
          <a:xfrm>
            <a:off x="8913303" y="3435805"/>
            <a:ext cx="818040" cy="92814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4" name="Picture 93">
            <a:extLst>
              <a:ext uri="{FF2B5EF4-FFF2-40B4-BE49-F238E27FC236}">
                <a16:creationId xmlns:a16="http://schemas.microsoft.com/office/drawing/2014/main" id="{7E37090B-42D0-254A-0E1F-8B34950D95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6878" y="6088110"/>
            <a:ext cx="1837637" cy="670963"/>
          </a:xfrm>
          <a:prstGeom prst="rect">
            <a:avLst/>
          </a:prstGeom>
        </p:spPr>
      </p:pic>
      <p:cxnSp>
        <p:nvCxnSpPr>
          <p:cNvPr id="3" name="Straight Arrow Connector 17">
            <a:extLst>
              <a:ext uri="{FF2B5EF4-FFF2-40B4-BE49-F238E27FC236}">
                <a16:creationId xmlns:a16="http://schemas.microsoft.com/office/drawing/2014/main" id="{AB17D9E1-167A-0D84-A731-6E8D51E06973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7953371" y="5538930"/>
            <a:ext cx="2326" cy="5491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186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E654-C741-53E6-3E70-EEE4034D6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Actuator </a:t>
            </a:r>
            <a:r>
              <a:rPr lang="ko-KR" altLang="en-US" dirty="0"/>
              <a:t>매핑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BB26473-B5BA-ED2F-BE62-3B28D8A67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300" y="1545702"/>
            <a:ext cx="1959474" cy="1209675"/>
          </a:xfrm>
          <a:prstGeom prst="rect">
            <a:avLst/>
          </a:prstGeom>
        </p:spPr>
      </p:pic>
      <p:pic>
        <p:nvPicPr>
          <p:cNvPr id="27" name="Picture 26" descr="A metal object with screws&#10;&#10;AI-generated content may be incorrect.">
            <a:extLst>
              <a:ext uri="{FF2B5EF4-FFF2-40B4-BE49-F238E27FC236}">
                <a16:creationId xmlns:a16="http://schemas.microsoft.com/office/drawing/2014/main" id="{1EF0CD6F-6760-074F-202C-302B9C6782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1754187"/>
            <a:ext cx="1428750" cy="119062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B49A17F-3F2C-554E-81F0-47939AE51904}"/>
              </a:ext>
            </a:extLst>
          </p:cNvPr>
          <p:cNvSpPr txBox="1"/>
          <p:nvPr/>
        </p:nvSpPr>
        <p:spPr>
          <a:xfrm>
            <a:off x="8270726" y="3577845"/>
            <a:ext cx="19784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IRI: …</a:t>
            </a:r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cyl1507</a:t>
            </a:r>
          </a:p>
          <a:p>
            <a:r>
              <a:rPr lang="ko-KR" altLang="en-US" sz="1600" dirty="0"/>
              <a:t>구동 축 </a:t>
            </a:r>
            <a:r>
              <a:rPr lang="en-US" altLang="ko-KR" sz="1600" dirty="0"/>
              <a:t>: 1</a:t>
            </a:r>
            <a:r>
              <a:rPr lang="ko-KR" altLang="en-US" sz="1600" dirty="0"/>
              <a:t>개 </a:t>
            </a:r>
            <a:r>
              <a:rPr lang="en-US" altLang="ko-KR" sz="1600" dirty="0"/>
              <a:t>(j0)</a:t>
            </a:r>
          </a:p>
          <a:p>
            <a:r>
              <a:rPr lang="ko-KR" altLang="en-US" sz="1600" dirty="0"/>
              <a:t>모션</a:t>
            </a:r>
            <a:r>
              <a:rPr lang="en-US" altLang="ko-KR" sz="1600" dirty="0"/>
              <a:t>:</a:t>
            </a:r>
          </a:p>
          <a:p>
            <a:r>
              <a:rPr lang="ko-KR" altLang="en-US" sz="1600" dirty="0"/>
              <a:t>  전진</a:t>
            </a:r>
            <a:r>
              <a:rPr lang="en-US" altLang="ko-KR" sz="1600" dirty="0"/>
              <a:t>: </a:t>
            </a:r>
            <a:r>
              <a:rPr lang="en-US" altLang="ko-KR" sz="1200" b="1" dirty="0">
                <a:solidFill>
                  <a:srgbClr val="FF0000"/>
                </a:solidFill>
              </a:rPr>
              <a:t>j0</a:t>
            </a:r>
            <a:r>
              <a:rPr lang="en-US" altLang="ko-KR" sz="1600" dirty="0"/>
              <a:t> : 0 </a:t>
            </a:r>
            <a:r>
              <a:rPr lang="en-US" altLang="ko-KR" sz="1600" dirty="0">
                <a:sym typeface="Wingdings" panose="05000000000000000000" pitchFamily="2" charset="2"/>
              </a:rPr>
              <a:t> 100</a:t>
            </a:r>
          </a:p>
          <a:p>
            <a:r>
              <a:rPr lang="en-US" altLang="ko-KR" sz="1600" dirty="0">
                <a:sym typeface="Wingdings" panose="05000000000000000000" pitchFamily="2" charset="2"/>
              </a:rPr>
              <a:t> </a:t>
            </a:r>
            <a:r>
              <a:rPr lang="en-US" altLang="ko-KR" sz="1600" dirty="0"/>
              <a:t> </a:t>
            </a:r>
            <a:r>
              <a:rPr lang="ko-KR" altLang="en-US" sz="1600" dirty="0"/>
              <a:t>후진</a:t>
            </a:r>
            <a:r>
              <a:rPr lang="en-US" altLang="ko-KR" sz="1600" dirty="0"/>
              <a:t>: </a:t>
            </a:r>
            <a:r>
              <a:rPr lang="en-US" altLang="ko-KR" sz="1200" b="1" dirty="0">
                <a:solidFill>
                  <a:srgbClr val="FF0000"/>
                </a:solidFill>
              </a:rPr>
              <a:t>j0</a:t>
            </a:r>
            <a:r>
              <a:rPr lang="en-US" altLang="ko-KR" sz="1600" dirty="0"/>
              <a:t> : 100 </a:t>
            </a:r>
            <a:r>
              <a:rPr lang="en-US" altLang="ko-KR" sz="1600" dirty="0">
                <a:sym typeface="Wingdings" panose="05000000000000000000" pitchFamily="2" charset="2"/>
              </a:rPr>
              <a:t> 0</a:t>
            </a:r>
            <a:endParaRPr lang="ko-KR" alt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C85EBF-D611-9E45-41A9-8EFD66A23F71}"/>
              </a:ext>
            </a:extLst>
          </p:cNvPr>
          <p:cNvSpPr txBox="1"/>
          <p:nvPr/>
        </p:nvSpPr>
        <p:spPr>
          <a:xfrm>
            <a:off x="4761509" y="2842968"/>
            <a:ext cx="235654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IRI: …</a:t>
            </a:r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cyl1507</a:t>
            </a:r>
          </a:p>
          <a:p>
            <a:r>
              <a:rPr lang="en-US" altLang="ko-KR" sz="1600" dirty="0"/>
              <a:t>Type : …</a:t>
            </a:r>
          </a:p>
          <a:p>
            <a:r>
              <a:rPr lang="ko-KR" altLang="en-US" sz="1600" dirty="0"/>
              <a:t>전기 특성</a:t>
            </a:r>
            <a:r>
              <a:rPr lang="en-US" altLang="ko-KR" sz="1600" dirty="0"/>
              <a:t>: …</a:t>
            </a:r>
          </a:p>
          <a:p>
            <a:r>
              <a:rPr lang="ko-KR" altLang="en-US" sz="1600" dirty="0"/>
              <a:t>물리 특성</a:t>
            </a:r>
            <a:r>
              <a:rPr lang="en-US" altLang="ko-KR" sz="1600" dirty="0"/>
              <a:t>: …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FF68D-9E71-7897-F46E-40B2817C945B}"/>
              </a:ext>
            </a:extLst>
          </p:cNvPr>
          <p:cNvSpPr txBox="1"/>
          <p:nvPr/>
        </p:nvSpPr>
        <p:spPr>
          <a:xfrm>
            <a:off x="1355027" y="3167583"/>
            <a:ext cx="1016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DS </a:t>
            </a:r>
            <a:r>
              <a:rPr lang="ko-KR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관점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EA854BE-3398-90EB-0B55-DF183389B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288" y="4263749"/>
            <a:ext cx="2663096" cy="648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D88AB9-DA05-8A2B-D89C-EEF8E2B6E645}"/>
              </a:ext>
            </a:extLst>
          </p:cNvPr>
          <p:cNvSpPr txBox="1"/>
          <p:nvPr/>
        </p:nvSpPr>
        <p:spPr>
          <a:xfrm>
            <a:off x="681758" y="3577846"/>
            <a:ext cx="2661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신호</a:t>
            </a:r>
            <a:r>
              <a:rPr lang="en-US" altLang="ko-KR" sz="1600" dirty="0"/>
              <a:t>: </a:t>
            </a:r>
            <a:r>
              <a:rPr lang="ko-KR" altLang="en-US" sz="1600" dirty="0"/>
              <a:t>전</a:t>
            </a:r>
            <a:r>
              <a:rPr lang="en-US" altLang="ko-KR" sz="1600" dirty="0"/>
              <a:t>/</a:t>
            </a:r>
            <a:r>
              <a:rPr lang="ko-KR" altLang="en-US" sz="1600" dirty="0"/>
              <a:t>후진 각각 입</a:t>
            </a:r>
            <a:r>
              <a:rPr lang="en-US" altLang="ko-KR" sz="1600" dirty="0"/>
              <a:t>/</a:t>
            </a:r>
            <a:r>
              <a:rPr lang="ko-KR" altLang="en-US" sz="1600" dirty="0"/>
              <a:t>출력</a:t>
            </a:r>
            <a:endParaRPr lang="en-US" altLang="ko-KR" sz="1600" dirty="0"/>
          </a:p>
          <a:p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IRI: …</a:t>
            </a:r>
            <a:r>
              <a:rPr lang="en-US" altLang="ko-KR" sz="1600" b="1" dirty="0">
                <a:solidFill>
                  <a:schemeClr val="accent2">
                    <a:lumMod val="75000"/>
                  </a:schemeClr>
                </a:solidFill>
              </a:rPr>
              <a:t>cyl1507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534BF0-76FF-7A1F-78B1-393FEFC8B2B7}"/>
              </a:ext>
            </a:extLst>
          </p:cNvPr>
          <p:cNvSpPr txBox="1"/>
          <p:nvPr/>
        </p:nvSpPr>
        <p:spPr>
          <a:xfrm>
            <a:off x="8649146" y="3102971"/>
            <a:ext cx="1016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3D </a:t>
            </a:r>
            <a:r>
              <a:rPr lang="ko-KR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관점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28960B-8743-3217-BDF8-743F64A611E3}"/>
              </a:ext>
            </a:extLst>
          </p:cNvPr>
          <p:cNvSpPr txBox="1"/>
          <p:nvPr/>
        </p:nvSpPr>
        <p:spPr>
          <a:xfrm>
            <a:off x="4127383" y="1570289"/>
            <a:ext cx="15827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실물 </a:t>
            </a:r>
            <a:r>
              <a:rPr lang="en-US" altLang="ko-KR" sz="1600" b="1" dirty="0">
                <a:solidFill>
                  <a:schemeClr val="tx2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cylinder</a:t>
            </a:r>
            <a:endParaRPr lang="ko-KR" altLang="en-US" sz="1600" b="1" dirty="0">
              <a:solidFill>
                <a:schemeClr val="tx2">
                  <a:lumMod val="75000"/>
                  <a:lumOff val="25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7FB4BFE0-527D-180E-F897-8F4065B41306}"/>
              </a:ext>
            </a:extLst>
          </p:cNvPr>
          <p:cNvSpPr/>
          <p:nvPr/>
        </p:nvSpPr>
        <p:spPr>
          <a:xfrm rot="9050886">
            <a:off x="3790201" y="2780822"/>
            <a:ext cx="715684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id="{DF314529-EE61-4FDB-E12C-AC7793381F5B}"/>
              </a:ext>
            </a:extLst>
          </p:cNvPr>
          <p:cNvSpPr/>
          <p:nvPr/>
        </p:nvSpPr>
        <p:spPr>
          <a:xfrm rot="1370613">
            <a:off x="6978709" y="2480616"/>
            <a:ext cx="715684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Picture 24" descr="A logo of a company&#10;&#10;AI-generated content may be incorrect.">
            <a:extLst>
              <a:ext uri="{FF2B5EF4-FFF2-40B4-BE49-F238E27FC236}">
                <a16:creationId xmlns:a16="http://schemas.microsoft.com/office/drawing/2014/main" id="{98445965-6389-4B1F-7616-19D8EB51DA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930" y="4826937"/>
            <a:ext cx="2429706" cy="826731"/>
          </a:xfrm>
          <a:prstGeom prst="rect">
            <a:avLst/>
          </a:prstGeom>
        </p:spPr>
      </p:pic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DFD7ADFD-197D-0DB8-D5D0-73829CF0C46F}"/>
              </a:ext>
            </a:extLst>
          </p:cNvPr>
          <p:cNvSpPr/>
          <p:nvPr/>
        </p:nvSpPr>
        <p:spPr>
          <a:xfrm rot="1211917">
            <a:off x="3691179" y="4767776"/>
            <a:ext cx="715684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6A55FA6B-FB92-DD32-9C99-0EC9B4CAF0E1}"/>
              </a:ext>
            </a:extLst>
          </p:cNvPr>
          <p:cNvSpPr/>
          <p:nvPr/>
        </p:nvSpPr>
        <p:spPr>
          <a:xfrm rot="19956442">
            <a:off x="7354839" y="4570961"/>
            <a:ext cx="715684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E7895-14B2-A165-8899-0C1FA9213F6E}"/>
              </a:ext>
            </a:extLst>
          </p:cNvPr>
          <p:cNvSpPr txBox="1"/>
          <p:nvPr/>
        </p:nvSpPr>
        <p:spPr>
          <a:xfrm>
            <a:off x="621691" y="5055173"/>
            <a:ext cx="196399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추가 모델링 정보</a:t>
            </a:r>
            <a:endParaRPr lang="en-US" altLang="ko-KR" dirty="0"/>
          </a:p>
          <a:p>
            <a:r>
              <a:rPr lang="en-US" altLang="ko-KR" sz="1400" dirty="0"/>
              <a:t>ADVANCE:</a:t>
            </a:r>
            <a:r>
              <a:rPr lang="ko-KR" altLang="en-US" sz="1400" dirty="0"/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j0</a:t>
            </a:r>
          </a:p>
          <a:p>
            <a:r>
              <a:rPr lang="en-US" altLang="ko-KR" sz="1400" dirty="0"/>
              <a:t>RETURN:</a:t>
            </a:r>
            <a:r>
              <a:rPr lang="ko-KR" altLang="en-US" sz="1400" dirty="0"/>
              <a:t> </a:t>
            </a:r>
            <a:r>
              <a:rPr lang="en-US" altLang="ko-KR" sz="1400" b="1" dirty="0">
                <a:solidFill>
                  <a:srgbClr val="FF0000"/>
                </a:solidFill>
              </a:rPr>
              <a:t>j0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8CD389-DB7A-920A-4421-7C3942EB95E0}"/>
              </a:ext>
            </a:extLst>
          </p:cNvPr>
          <p:cNvSpPr txBox="1"/>
          <p:nvPr/>
        </p:nvSpPr>
        <p:spPr>
          <a:xfrm>
            <a:off x="3995821" y="6232525"/>
            <a:ext cx="3887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Issue: joint </a:t>
            </a:r>
            <a:r>
              <a:rPr lang="ko-KR" altLang="en-US" dirty="0"/>
              <a:t>의 </a:t>
            </a:r>
            <a:r>
              <a:rPr lang="en-US" altLang="ko-KR" dirty="0"/>
              <a:t>value </a:t>
            </a:r>
            <a:r>
              <a:rPr lang="ko-KR" altLang="en-US" dirty="0"/>
              <a:t>지정은 어디서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09020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3C57-B1E3-6ADE-4240-52DF6B4A1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Redis </a:t>
            </a:r>
            <a:r>
              <a:rPr lang="ko-KR" altLang="en-US" dirty="0"/>
              <a:t>와 정보교환</a:t>
            </a:r>
          </a:p>
        </p:txBody>
      </p:sp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C29991D4-952E-C950-409E-FAE7F46F6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616" y="2468910"/>
            <a:ext cx="2429706" cy="8267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1DAFB9-0387-1280-7776-43533D3F53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2699" y="2238960"/>
            <a:ext cx="1659743" cy="113333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3794ED-92E9-B836-CD71-0D7B02D6C05F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341303" y="2805626"/>
            <a:ext cx="1291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DFD552E-0B2F-EDE0-3CDD-A043EB1ABF46}"/>
              </a:ext>
            </a:extLst>
          </p:cNvPr>
          <p:cNvSpPr txBox="1"/>
          <p:nvPr/>
        </p:nvSpPr>
        <p:spPr>
          <a:xfrm>
            <a:off x="7637608" y="2954660"/>
            <a:ext cx="423224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Pull: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전체 모든 </a:t>
            </a:r>
            <a:r>
              <a:rPr lang="en-US" altLang="ko-KR" sz="1600" dirty="0"/>
              <a:t>device </a:t>
            </a:r>
            <a:r>
              <a:rPr lang="ko-KR" altLang="en-US" sz="1600" dirty="0"/>
              <a:t>의 현재 </a:t>
            </a:r>
            <a:r>
              <a:rPr lang="en-US" altLang="ko-KR" sz="1600" dirty="0"/>
              <a:t>joint </a:t>
            </a:r>
            <a:r>
              <a:rPr lang="ko-KR" altLang="en-US" sz="1600" dirty="0"/>
              <a:t>상태값 조회</a:t>
            </a:r>
            <a:endParaRPr lang="en-US" altLang="ko-KR" sz="1600" dirty="0"/>
          </a:p>
          <a:p>
            <a:r>
              <a:rPr lang="en-US" altLang="ko-KR" sz="1600"/>
              <a:t> 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Push: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개별 </a:t>
            </a:r>
            <a:r>
              <a:rPr lang="en-US" altLang="ko-KR" sz="1600" dirty="0"/>
              <a:t>device </a:t>
            </a:r>
            <a:r>
              <a:rPr lang="ko-KR" altLang="en-US" sz="1600" dirty="0"/>
              <a:t>의 </a:t>
            </a:r>
            <a:r>
              <a:rPr lang="en-US" altLang="ko-KR" sz="1600" dirty="0"/>
              <a:t>joint </a:t>
            </a:r>
            <a:r>
              <a:rPr lang="ko-KR" altLang="en-US" sz="1600" dirty="0"/>
              <a:t>상태 변경시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안</a:t>
            </a:r>
            <a:r>
              <a:rPr lang="en-US" altLang="ko-KR" sz="1600" dirty="0"/>
              <a:t>1: </a:t>
            </a:r>
            <a:r>
              <a:rPr lang="ko-KR" altLang="en-US" sz="1600" dirty="0"/>
              <a:t>상태 완료시만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안</a:t>
            </a:r>
            <a:r>
              <a:rPr lang="en-US" altLang="ko-KR" sz="1600" dirty="0"/>
              <a:t>2: </a:t>
            </a:r>
            <a:r>
              <a:rPr lang="ko-KR" altLang="en-US" sz="1600" dirty="0"/>
              <a:t>상태 완료 및 천이 시작 시 공지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E73781-2169-E4A6-9DAE-9476ECA5A857}"/>
              </a:ext>
            </a:extLst>
          </p:cNvPr>
          <p:cNvSpPr txBox="1"/>
          <p:nvPr/>
        </p:nvSpPr>
        <p:spPr>
          <a:xfrm>
            <a:off x="453005" y="4052374"/>
            <a:ext cx="602325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Pull </a:t>
            </a:r>
            <a:r>
              <a:rPr lang="ko-KR" altLang="en-US" sz="1400" dirty="0"/>
              <a:t>방식</a:t>
            </a:r>
            <a:r>
              <a:rPr lang="en-US" altLang="ko-KR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3D </a:t>
            </a:r>
            <a:r>
              <a:rPr lang="ko-KR" altLang="en-US" sz="1400" dirty="0"/>
              <a:t>최초 </a:t>
            </a:r>
            <a:r>
              <a:rPr lang="en-US" altLang="ko-KR" sz="1400" dirty="0"/>
              <a:t>load </a:t>
            </a:r>
            <a:r>
              <a:rPr lang="ko-KR" altLang="en-US" sz="1400" dirty="0"/>
              <a:t>시에 한꺼번에 모든 </a:t>
            </a:r>
            <a:r>
              <a:rPr lang="en-US" altLang="ko-KR" sz="1400" dirty="0"/>
              <a:t>device joint </a:t>
            </a:r>
            <a:r>
              <a:rPr lang="ko-KR" altLang="en-US" sz="1400" dirty="0"/>
              <a:t>의 현재 상태 </a:t>
            </a:r>
            <a:r>
              <a:rPr lang="en-US" altLang="ko-KR" sz="1400" dirty="0"/>
              <a:t>query </a:t>
            </a:r>
            <a:r>
              <a:rPr lang="ko-KR" altLang="en-US" sz="1400" dirty="0"/>
              <a:t>용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en-US" altLang="ko-KR" sz="1400" dirty="0"/>
              <a:t>Push </a:t>
            </a:r>
            <a:r>
              <a:rPr lang="ko-KR" altLang="en-US" sz="1400" dirty="0"/>
              <a:t>방식</a:t>
            </a:r>
            <a:r>
              <a:rPr lang="en-US" altLang="ko-KR" sz="14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altLang="ko-KR" sz="1400" dirty="0"/>
              <a:t>Runtime </a:t>
            </a:r>
            <a:r>
              <a:rPr lang="ko-KR" altLang="en-US" sz="1400" dirty="0"/>
              <a:t>구동 중에 </a:t>
            </a:r>
            <a:r>
              <a:rPr lang="en-US" altLang="ko-KR" sz="1400" dirty="0"/>
              <a:t>event </a:t>
            </a:r>
            <a:r>
              <a:rPr lang="ko-KR" altLang="en-US" sz="1400" dirty="0"/>
              <a:t>구독 </a:t>
            </a:r>
            <a:r>
              <a:rPr lang="en-US" altLang="ko-KR" sz="1400" dirty="0"/>
              <a:t>(pub/sub </a:t>
            </a:r>
            <a:r>
              <a:rPr lang="ko-KR" altLang="en-US" sz="1400" dirty="0"/>
              <a:t>방식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93557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223</Words>
  <Application>Microsoft Office PowerPoint</Application>
  <PresentationFormat>와이드스크린</PresentationFormat>
  <Paragraphs>51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Theme</vt:lpstr>
      <vt:lpstr>Backend server</vt:lpstr>
      <vt:lpstr>구성 요소</vt:lpstr>
      <vt:lpstr>Backend service 개요</vt:lpstr>
      <vt:lpstr>Actuator 매핑</vt:lpstr>
      <vt:lpstr>Redis 와 정보교환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곽 종근</dc:creator>
  <cp:lastModifiedBy>kwak dual</cp:lastModifiedBy>
  <cp:revision>46</cp:revision>
  <dcterms:created xsi:type="dcterms:W3CDTF">2025-06-27T06:09:16Z</dcterms:created>
  <dcterms:modified xsi:type="dcterms:W3CDTF">2025-07-17T07:29:34Z</dcterms:modified>
</cp:coreProperties>
</file>